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631247" y="824838"/>
            <a:ext cx="8580783" cy="5208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 algn="just">
              <a:lnSpc>
                <a:spcPct val="130000"/>
              </a:lnSpc>
              <a:buAutoNum type="arabicPeriod"/>
            </a:pPr>
            <a:r>
              <a:rPr lang="zh-CN" altLang="zh-CN" sz="24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简述两类存储结构的名称与特点。</a:t>
            </a:r>
            <a:endParaRPr lang="en-US" altLang="zh-CN" sz="24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30000"/>
              </a:lnSpc>
              <a:buAutoNum type="arabicPeriod"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30000"/>
              </a:lnSpc>
              <a:buAutoNum type="arabicPeriod"/>
            </a:pPr>
            <a:endParaRPr lang="en-US" altLang="zh-CN" sz="24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30000"/>
              </a:lnSpc>
              <a:buAutoNum type="arabicPeriod"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30000"/>
              </a:lnSpc>
              <a:buAutoNum type="arabicPeriod"/>
            </a:pPr>
            <a:endParaRPr lang="en-US" altLang="zh-CN" sz="24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30000"/>
              </a:lnSpc>
              <a:buAutoNum type="arabicPeriod"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30000"/>
              </a:lnSpc>
              <a:buAutoNum type="arabicPeriod"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如下程序段：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2000" dirty="0"/>
              <a:t>for(</a:t>
            </a:r>
            <a:r>
              <a:rPr lang="en-US" altLang="zh-CN" sz="2000" dirty="0" err="1"/>
              <a:t>i</a:t>
            </a:r>
            <a:r>
              <a:rPr lang="en-US" altLang="zh-CN" sz="2000" dirty="0"/>
              <a:t>=1;i&lt;=n-1;i++)</a:t>
            </a:r>
            <a:endParaRPr lang="en-US" altLang="zh-CN" sz="2000" dirty="0"/>
          </a:p>
          <a:p>
            <a:pPr algn="just">
              <a:lnSpc>
                <a:spcPct val="130000"/>
              </a:lnSpc>
            </a:pPr>
            <a:r>
              <a:rPr lang="en-US" altLang="zh-CN" sz="2000" dirty="0"/>
              <a:t>	for(j=i+1;j&lt;=</a:t>
            </a:r>
            <a:r>
              <a:rPr lang="en-US" altLang="zh-CN" sz="2000" dirty="0" err="1"/>
              <a:t>n;j</a:t>
            </a:r>
            <a:r>
              <a:rPr lang="en-US" altLang="zh-CN" sz="2000" dirty="0"/>
              <a:t>++) x=x+1;</a:t>
            </a:r>
            <a:endParaRPr lang="en-US" altLang="zh-CN" sz="2000" dirty="0"/>
          </a:p>
          <a:p>
            <a:pPr algn="just">
              <a:lnSpc>
                <a:spcPct val="13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求该段代码的时间复杂度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631247" y="685857"/>
            <a:ext cx="9036753" cy="0"/>
          </a:xfrm>
          <a:prstGeom prst="line">
            <a:avLst/>
          </a:prstGeom>
          <a:ln w="60325" cmpd="tri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1631247" y="101082"/>
            <a:ext cx="665105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第一章</a:t>
            </a:r>
            <a:endParaRPr lang="zh-CN" altLang="en-US" sz="3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4644" y="101082"/>
            <a:ext cx="2105438" cy="493357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631247" y="1452499"/>
            <a:ext cx="8968835" cy="2091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答：</a:t>
            </a:r>
            <a:endParaRPr lang="en-US" altLang="zh-CN" sz="20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30000"/>
              </a:lnSpc>
              <a:buAutoNum type="arabicParenBoth"/>
            </a:pPr>
            <a:r>
              <a:rPr lang="zh-CN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顺序存储结构：存储单元地址连续，它以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lang="zh-CN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物理位置相邻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”</a:t>
            </a:r>
            <a:r>
              <a:rPr lang="zh-CN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来表示线性表中数据元素间的逻辑关系，可随机存取表中任一元素。</a:t>
            </a:r>
            <a:endParaRPr lang="en-US" altLang="zh-CN" sz="20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30000"/>
              </a:lnSpc>
              <a:buAutoNum type="arabicParenBoth"/>
            </a:pPr>
            <a:r>
              <a:rPr lang="zh-CN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链式存储结构：存储单元地址为任意一组，它的存储单元可以是连续的，也可以是不连续的。</a:t>
            </a:r>
            <a:endParaRPr lang="zh-CN" altLang="en-US" sz="20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665205" y="5534780"/>
            <a:ext cx="8968835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答：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-1)+(</a:t>
            </a:r>
            <a:r>
              <a: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-2)+ … + 1 = </a:t>
            </a:r>
            <a:r>
              <a: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-1)/2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，所以时间复杂度为</a:t>
            </a:r>
            <a:r>
              <a: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000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sz="2000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1631247" y="685857"/>
            <a:ext cx="9036753" cy="0"/>
          </a:xfrm>
          <a:prstGeom prst="line">
            <a:avLst/>
          </a:prstGeom>
          <a:ln w="60325" cmpd="tri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631247" y="101082"/>
            <a:ext cx="665105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第二章</a:t>
            </a:r>
            <a:endParaRPr lang="zh-CN" altLang="en-US" sz="3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4644" y="101082"/>
            <a:ext cx="2105438" cy="493357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631247" y="824838"/>
            <a:ext cx="8580783" cy="4887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 algn="just">
              <a:lnSpc>
                <a:spcPct val="130000"/>
              </a:lnSpc>
              <a:buAutoNum type="arabicPeriod"/>
            </a:pPr>
            <a:r>
              <a:rPr lang="zh-CN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对以下单链表分别执行下列各程序段，并画出结果示意图</a:t>
            </a:r>
            <a:r>
              <a:rPr lang="zh-CN" altLang="zh-CN" sz="24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sz="24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30000"/>
              </a:lnSpc>
              <a:buAutoNum type="arabicPeriod"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30000"/>
              </a:lnSpc>
              <a:buAutoNum type="arabicPeriod"/>
            </a:pPr>
            <a:endParaRPr lang="en-US" altLang="zh-CN" sz="24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30000"/>
              </a:lnSpc>
              <a:buAutoNum type="arabicParenBoth"/>
            </a:pP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Q=P-&gt;next;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30000"/>
              </a:lnSpc>
              <a:buAutoNum type="arabicParenBoth"/>
            </a:pP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L=P-&gt;next;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30000"/>
              </a:lnSpc>
              <a:buAutoNum type="arabicParenBoth"/>
            </a:pP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R-&gt;data = P-&gt;data;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30000"/>
              </a:lnSpc>
              <a:buAutoNum type="arabicParenBoth"/>
            </a:pP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R-&gt;data = P-&gt;next-&gt;data;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30000"/>
              </a:lnSpc>
              <a:buAutoNum type="arabicParenBoth"/>
            </a:pP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P-&gt;next-&gt;next-&gt;next-&gt;data = P-&gt;data.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3074" name="图片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400" y="1911487"/>
            <a:ext cx="7596445" cy="12160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1631247" y="685857"/>
            <a:ext cx="9036753" cy="0"/>
          </a:xfrm>
          <a:prstGeom prst="line">
            <a:avLst/>
          </a:prstGeom>
          <a:ln w="60325" cmpd="tri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631247" y="101082"/>
            <a:ext cx="665105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第二章</a:t>
            </a:r>
            <a:endParaRPr lang="zh-CN" altLang="en-US" sz="3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4644" y="101082"/>
            <a:ext cx="2105438" cy="493357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631247" y="631503"/>
            <a:ext cx="8968835" cy="5692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答：</a:t>
            </a:r>
            <a:endParaRPr lang="en-US" altLang="zh-CN" sz="20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(1)</a:t>
            </a:r>
            <a:endParaRPr lang="en-US" altLang="zh-CN" sz="20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endParaRPr lang="en-US" altLang="zh-CN" sz="20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endParaRPr lang="en-US" altLang="zh-CN" sz="20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(2)</a:t>
            </a:r>
            <a:endParaRPr lang="en-US" altLang="zh-CN" sz="20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endParaRPr lang="en-US" altLang="zh-CN" sz="20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endParaRPr lang="en-US" altLang="zh-CN" sz="20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(3)</a:t>
            </a:r>
            <a:endParaRPr lang="en-US" altLang="zh-CN" sz="20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endParaRPr lang="en-US" altLang="zh-CN" sz="20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endParaRPr lang="en-US" altLang="zh-CN" sz="20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(4)</a:t>
            </a:r>
            <a:endParaRPr lang="en-US" altLang="zh-CN" sz="20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endParaRPr lang="en-US" altLang="zh-CN" sz="20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endParaRPr lang="en-US" altLang="zh-CN" sz="20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(5)      </a:t>
            </a:r>
            <a:endParaRPr lang="en-US" altLang="zh-CN" sz="20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4098" name="图片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7755" y="1111608"/>
            <a:ext cx="6447798" cy="1037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2766" y="2305644"/>
            <a:ext cx="3208888" cy="898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4624" y="3493131"/>
            <a:ext cx="6456349" cy="103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8119" y="4690395"/>
            <a:ext cx="6462854" cy="103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6840" y="5887659"/>
            <a:ext cx="6456804" cy="103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1631247" y="685857"/>
            <a:ext cx="9036753" cy="0"/>
          </a:xfrm>
          <a:prstGeom prst="line">
            <a:avLst/>
          </a:prstGeom>
          <a:ln w="60325" cmpd="tri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631247" y="101082"/>
            <a:ext cx="665105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第二章</a:t>
            </a:r>
            <a:endParaRPr lang="zh-CN" altLang="en-US" sz="3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4644" y="101082"/>
            <a:ext cx="2105438" cy="493357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631247" y="824838"/>
            <a:ext cx="8968835" cy="4887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 algn="just">
              <a:lnSpc>
                <a:spcPct val="130000"/>
              </a:lnSpc>
              <a:buAutoNum type="arabicPeriod"/>
            </a:pPr>
            <a:r>
              <a:rPr lang="zh-CN" altLang="en-US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以下算法是求取某带头结点的单链表的长度，请补充完整代码。</a:t>
            </a:r>
            <a:endParaRPr lang="en-US" altLang="zh-CN" sz="24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2400" kern="100" dirty="0">
                <a:effectLst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int </a:t>
            </a:r>
            <a:r>
              <a:rPr lang="en-US" altLang="zh-CN" sz="2400" kern="100" dirty="0" err="1">
                <a:effectLst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LinkLength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(</a:t>
            </a:r>
            <a:r>
              <a:rPr lang="en-US" altLang="zh-CN" sz="2400" kern="100" dirty="0" err="1">
                <a:effectLst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LinkList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L)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2400" kern="100" dirty="0">
                <a:effectLst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{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zh-CN" altLang="zh-CN" sz="2400" dirty="0"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‎</a:t>
            </a:r>
            <a:r>
              <a:rPr lang="en-US" altLang="zh-C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p=L-&gt;next;  </a:t>
            </a:r>
            <a:r>
              <a:rPr lang="en-US" altLang="zh-CN" sz="24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=0;</a:t>
            </a:r>
            <a:endParaRPr lang="en-US" altLang="zh-CN" sz="2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endParaRPr lang="en-US" altLang="zh-CN" sz="2400" dirty="0"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endParaRPr lang="en-US" altLang="zh-CN" sz="2400" dirty="0"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400" kern="1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     return </a:t>
            </a:r>
            <a:r>
              <a:rPr lang="en-US" altLang="zh-CN" sz="2400" kern="100" dirty="0" err="1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i</a:t>
            </a:r>
            <a:r>
              <a:rPr lang="en-US" altLang="zh-CN" sz="2400" kern="1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;    //</a:t>
            </a:r>
            <a:r>
              <a:rPr lang="zh-CN" altLang="zh-CN" sz="2400" kern="1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返回链表长度</a:t>
            </a:r>
            <a:endParaRPr lang="en-US" altLang="zh-CN" sz="2400" kern="100" dirty="0"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400" kern="1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}</a:t>
            </a:r>
            <a:endParaRPr lang="en-US" altLang="zh-CN" sz="2400" kern="100" dirty="0"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077277" y="2759998"/>
            <a:ext cx="4764156" cy="1938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while(p != null)</a:t>
            </a:r>
            <a:endParaRPr lang="zh-CN" altLang="zh-CN" sz="2400" kern="1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{</a:t>
            </a:r>
            <a:endParaRPr lang="zh-CN" altLang="zh-CN" sz="2400" kern="1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	</a:t>
            </a:r>
            <a:r>
              <a:rPr lang="en-US" altLang="zh-CN" sz="2400" kern="1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i</a:t>
            </a:r>
            <a:r>
              <a:rPr lang="en-US" altLang="zh-CN" sz="2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++;</a:t>
            </a:r>
            <a:endParaRPr lang="zh-CN" altLang="zh-CN" sz="2400" kern="1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	p = p -&gt; next;</a:t>
            </a:r>
            <a:endParaRPr lang="zh-CN" altLang="zh-CN" sz="2400" kern="1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}</a:t>
            </a:r>
            <a:endParaRPr lang="zh-CN" altLang="zh-CN" sz="2400" kern="1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1631247" y="685857"/>
            <a:ext cx="9036753" cy="0"/>
          </a:xfrm>
          <a:prstGeom prst="line">
            <a:avLst/>
          </a:prstGeom>
          <a:ln w="60325" cmpd="tri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631247" y="101082"/>
            <a:ext cx="665105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第三章</a:t>
            </a:r>
            <a:endParaRPr lang="zh-CN" altLang="en-US" sz="3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4644" y="101082"/>
            <a:ext cx="2105438" cy="493357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524000" y="804987"/>
            <a:ext cx="8968835" cy="1529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30000"/>
              </a:lnSpc>
              <a:buAutoNum type="arabicPeriod"/>
            </a:pPr>
            <a:r>
              <a:rPr lang="zh-CN" altLang="zh-CN" sz="2400" kern="0" dirty="0">
                <a:solidFill>
                  <a:srgbClr val="333333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给出栈的两种存储结构形式名称，在这两种栈的存储结构中如何判别栈满？</a:t>
            </a:r>
            <a:endParaRPr lang="en-US" altLang="zh-CN" sz="2400" kern="0" dirty="0">
              <a:solidFill>
                <a:srgbClr val="333333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algn="just">
              <a:lnSpc>
                <a:spcPct val="130000"/>
              </a:lnSpc>
            </a:pP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524000" y="1942829"/>
            <a:ext cx="89688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答：</a:t>
            </a:r>
            <a:endParaRPr lang="en-US" altLang="zh-CN" sz="20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30000"/>
              </a:lnSpc>
              <a:buAutoNum type="arabicParenBoth"/>
            </a:pP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顺序栈</a:t>
            </a:r>
            <a:r>
              <a:rPr lang="zh-CN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(top</a:t>
            </a:r>
            <a:r>
              <a:rPr lang="zh-CN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用来存放栈顶元素的下标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sz="20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lang="zh-CN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判断栈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zh-CN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空：如果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S-&gt;top==-1</a:t>
            </a:r>
            <a:r>
              <a:rPr lang="zh-CN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表示栈空。</a:t>
            </a:r>
            <a:endParaRPr lang="en-US" altLang="zh-CN" sz="20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lang="zh-CN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判断栈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zh-CN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满：如果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S-&gt;top==Stack_Size-1</a:t>
            </a:r>
            <a:r>
              <a:rPr lang="zh-CN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表示栈满。 </a:t>
            </a:r>
            <a:endParaRPr lang="en-US" altLang="zh-CN" sz="20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(2) </a:t>
            </a:r>
            <a:r>
              <a:rPr lang="zh-CN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链栈（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top</a:t>
            </a:r>
            <a:r>
              <a:rPr lang="zh-CN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为栈顶指针，指向当前栈顶元素前面的头结点）</a:t>
            </a:r>
            <a:endParaRPr lang="en-US" altLang="zh-CN" sz="20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lang="zh-CN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判断栈空：如果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top-&gt;next==NULL</a:t>
            </a:r>
            <a:r>
              <a:rPr lang="zh-CN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表示栈空。</a:t>
            </a:r>
            <a:endParaRPr lang="en-US" altLang="zh-CN" sz="20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lang="zh-CN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判断栈满：当系统没有可用空间时，申请不到空间存放要进栈的元素，此时栈满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sz="20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1631247" y="685857"/>
            <a:ext cx="9036753" cy="0"/>
          </a:xfrm>
          <a:prstGeom prst="line">
            <a:avLst/>
          </a:prstGeom>
          <a:ln w="60325" cmpd="tri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631247" y="101082"/>
            <a:ext cx="665105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第六章</a:t>
            </a:r>
            <a:endParaRPr lang="zh-CN" altLang="en-US" sz="3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4644" y="101082"/>
            <a:ext cx="2105438" cy="493357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631247" y="826761"/>
            <a:ext cx="8968835" cy="2968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30000"/>
              </a:lnSpc>
              <a:buFont typeface="+mj-lt"/>
              <a:buAutoNum type="arabicPeriod"/>
            </a:pPr>
            <a:r>
              <a:rPr lang="zh-CN" altLang="zh-CN" sz="24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已知二叉树有</a:t>
            </a:r>
            <a:r>
              <a:rPr lang="en-US" altLang="zh-CN" sz="24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50</a:t>
            </a:r>
            <a:r>
              <a:rPr lang="zh-CN" altLang="zh-CN" sz="24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个叶子结点，则该二叉树的总结点数至少应有多少个？</a:t>
            </a:r>
            <a:endParaRPr lang="en-US" altLang="zh-CN" sz="2400" dirty="0"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30000"/>
              </a:lnSpc>
              <a:buFont typeface="+mj-lt"/>
              <a:buAutoNum type="arabicPeriod"/>
            </a:pP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30000"/>
              </a:lnSpc>
              <a:buFont typeface="+mj-lt"/>
              <a:buAutoNum type="arabicPeriod"/>
            </a:pPr>
            <a:endParaRPr lang="en-US" altLang="zh-CN" sz="2400" dirty="0"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30000"/>
              </a:lnSpc>
              <a:buFont typeface="+mj-lt"/>
              <a:buAutoNum type="arabicPeriod"/>
            </a:pPr>
            <a:r>
              <a:rPr lang="zh-CN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有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7</a:t>
            </a:r>
            <a:r>
              <a:rPr lang="zh-CN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个带权结点，其权值分别为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3, 5, 7, 2, 6, 12, 15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r>
              <a:rPr lang="zh-CN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构造哈夫曼树，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并</a:t>
            </a:r>
            <a:r>
              <a:rPr lang="zh-CN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计算带权路径长度。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631247" y="1858582"/>
            <a:ext cx="8968835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答：叶子结点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000" baseline="-25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=50,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度为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的结点为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000" baseline="-25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= 50-1 = 49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，设度为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的结点为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000" baseline="-25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。则该二叉树的总结点数为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n = n</a:t>
            </a:r>
            <a:r>
              <a:rPr lang="en-US" altLang="zh-CN" sz="2000" baseline="-25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+n</a:t>
            </a:r>
            <a:r>
              <a:rPr lang="en-US" altLang="zh-CN" sz="2000" baseline="-25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+n</a:t>
            </a:r>
            <a:r>
              <a:rPr lang="en-US" altLang="zh-CN" sz="2000" baseline="-25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≥ 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000" baseline="-25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+n</a:t>
            </a:r>
            <a:r>
              <a:rPr lang="en-US" altLang="zh-CN" sz="2000" baseline="-25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= 99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。故总结点数至少为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99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个。</a:t>
            </a:r>
            <a:endParaRPr lang="en-US" altLang="zh-CN" sz="20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1631247" y="685857"/>
            <a:ext cx="9036753" cy="0"/>
          </a:xfrm>
          <a:prstGeom prst="line">
            <a:avLst/>
          </a:prstGeom>
          <a:ln w="60325" cmpd="tri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631247" y="101082"/>
            <a:ext cx="665105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第七章</a:t>
            </a:r>
            <a:endParaRPr lang="zh-CN" altLang="en-US" sz="3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4644" y="101082"/>
            <a:ext cx="2105438" cy="493357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524000" y="804987"/>
            <a:ext cx="8968835" cy="1529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30000"/>
              </a:lnSpc>
              <a:buAutoNum type="arabicPeriod"/>
            </a:pPr>
            <a:r>
              <a:rPr lang="zh-CN" altLang="zh-CN" sz="24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某图的邻接表存储如下</a:t>
            </a:r>
            <a:r>
              <a:rPr lang="zh-CN" altLang="en-US" sz="24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endParaRPr lang="en-US" altLang="zh-CN" sz="24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457200" algn="just">
              <a:lnSpc>
                <a:spcPct val="130000"/>
              </a:lnSpc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(1) 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画出图的结构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457200" algn="just">
              <a:lnSpc>
                <a:spcPct val="130000"/>
              </a:lnSpc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(2) 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从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点出发，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求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其深度优先遍历序列和广度优先遍历序列。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6689" y="2542139"/>
            <a:ext cx="2781300" cy="24098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1631247" y="685857"/>
            <a:ext cx="9036753" cy="0"/>
          </a:xfrm>
          <a:prstGeom prst="line">
            <a:avLst/>
          </a:prstGeom>
          <a:ln w="60325" cmpd="tri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631247" y="101082"/>
            <a:ext cx="665105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第七章</a:t>
            </a:r>
            <a:endParaRPr lang="zh-CN" altLang="en-US" sz="3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4644" y="101082"/>
            <a:ext cx="2105438" cy="49335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0273" y="964866"/>
            <a:ext cx="3010055" cy="2171812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6786769" y="1727607"/>
            <a:ext cx="2456318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dirty="0">
                <a:effectLst/>
                <a:latin typeface="MS Gothic" panose="020B0609070205080204" pitchFamily="49" charset="-128"/>
                <a:ea typeface="等线" panose="02010600030101010101" charset="-122"/>
                <a:cs typeface="MS Gothic" panose="020B0609070205080204" pitchFamily="49" charset="-128"/>
              </a:rPr>
              <a:t>深度：</a:t>
            </a:r>
            <a:r>
              <a:rPr lang="en-US" altLang="zh-CN" sz="1800" dirty="0">
                <a:effectLst/>
                <a:latin typeface="MS Gothic" panose="020B0609070205080204" pitchFamily="49" charset="-128"/>
                <a:ea typeface="等线" panose="02010600030101010101" charset="-122"/>
                <a:cs typeface="MS Gothic" panose="020B0609070205080204" pitchFamily="49" charset="-128"/>
              </a:rPr>
              <a:t>A F G E C D B</a:t>
            </a:r>
            <a:endParaRPr lang="en-US" altLang="zh-CN" sz="1800" dirty="0">
              <a:effectLst/>
              <a:latin typeface="MS Gothic" panose="020B0609070205080204" pitchFamily="49" charset="-128"/>
              <a:ea typeface="等线" panose="02010600030101010101" charset="-122"/>
              <a:cs typeface="MS Gothic" panose="020B0609070205080204" pitchFamily="49" charset="-128"/>
            </a:endParaRPr>
          </a:p>
          <a:p>
            <a:r>
              <a:rPr lang="zh-CN" altLang="en-US" dirty="0">
                <a:latin typeface="MS Gothic" panose="020B0609070205080204" pitchFamily="49" charset="-128"/>
                <a:ea typeface="等线" panose="02010600030101010101" charset="-122"/>
              </a:rPr>
              <a:t>广度：</a:t>
            </a:r>
            <a:r>
              <a:rPr lang="en-US" altLang="zh-CN" sz="1800" dirty="0">
                <a:effectLst/>
                <a:latin typeface="MS Gothic" panose="020B0609070205080204" pitchFamily="49" charset="-128"/>
                <a:ea typeface="等线" panose="02010600030101010101" charset="-122"/>
                <a:cs typeface="MS Gothic" panose="020B0609070205080204" pitchFamily="49" charset="-128"/>
              </a:rPr>
              <a:t>A C D F B G E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1611582" y="3446111"/>
            <a:ext cx="8968835" cy="248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30000"/>
              </a:lnSpc>
              <a:buFont typeface="+mj-lt"/>
              <a:buAutoNum type="arabicPeriod" startAt="2"/>
            </a:pP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已知一个图的顶点集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和边集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分别为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457200" algn="just">
              <a:lnSpc>
                <a:spcPct val="130000"/>
              </a:lnSpc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V={A,B,C,D,E,F,G};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457200" algn="just">
              <a:lnSpc>
                <a:spcPct val="130000"/>
              </a:lnSpc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E={(A,B)3,(A,C)5,(A,D)8,(B,E)10,(B,C)6,(C,D)15,(C,E)12,(C,F)9,(D,F)4,(D,G)20,(E,F)18,(F,G)25};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457200" algn="just">
              <a:lnSpc>
                <a:spcPct val="13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求：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用克鲁斯卡尔算法求解最小生成树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1631247" y="685857"/>
            <a:ext cx="9036753" cy="0"/>
          </a:xfrm>
          <a:prstGeom prst="line">
            <a:avLst/>
          </a:prstGeom>
          <a:ln w="60325" cmpd="tri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631247" y="101082"/>
            <a:ext cx="665105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第七章</a:t>
            </a:r>
            <a:endParaRPr lang="zh-CN" altLang="en-US" sz="3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4644" y="101082"/>
            <a:ext cx="2105438" cy="49335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5"/>
          <a:stretch>
            <a:fillRect/>
          </a:stretch>
        </p:blipFill>
        <p:spPr>
          <a:xfrm>
            <a:off x="3693336" y="1600200"/>
            <a:ext cx="4206297" cy="2453853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699165" y="777275"/>
            <a:ext cx="8968835" cy="57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30000"/>
              </a:lnSpc>
              <a:buFont typeface="+mj-lt"/>
              <a:buAutoNum type="arabicPeriod" startAt="2"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用迪杰斯特拉算法求下图从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V0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出发到剩余源点的最小距离。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1188</Words>
  <Application>WPS 演示</Application>
  <PresentationFormat>宽屏</PresentationFormat>
  <Paragraphs>111</Paragraphs>
  <Slides>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1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楷体</vt:lpstr>
      <vt:lpstr>Times New Roman</vt:lpstr>
      <vt:lpstr>等线</vt:lpstr>
      <vt:lpstr>MS Gothic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李焕明</cp:lastModifiedBy>
  <cp:revision>155</cp:revision>
  <dcterms:created xsi:type="dcterms:W3CDTF">2019-06-19T02:08:00Z</dcterms:created>
  <dcterms:modified xsi:type="dcterms:W3CDTF">2024-12-20T03:28:28Z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2052-12.1.0.19302</vt:lpwstr>
  </property>
  <property fmtid="{D5CDD505-2E9C-101B-9397-08002B2CF9AE}" pid="3" name="ICV">
    <vt:lpwstr>2714BC2042754196817988410A36725A</vt:lpwstr>
  </property>
</Properties>
</file>